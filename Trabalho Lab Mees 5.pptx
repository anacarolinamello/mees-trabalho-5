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Nunito"/>
      <p:regular r:id="rId23"/>
      <p:bold r:id="rId24"/>
      <p:italic r:id="rId25"/>
      <p:boldItalic r:id="rId26"/>
    </p:embeddedFont>
    <p:embeddedFont>
      <p:font typeface="Maven Pro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8" Type="http://schemas.openxmlformats.org/officeDocument/2006/relationships/font" Target="fonts/MavenPro-bold.fntdata"/><Relationship Id="rId27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4b966d08b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74b966d08b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8d6b89fac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8d6b89fac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eb204aaf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aeb204aaf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455aaaccc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455aaaccc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8d6b89fac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8d6b89fac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eb204aaf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aeb204aaf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eb204aaf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aeb204aaf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eb204aaf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aeb204aaf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eb204aaf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aeb204aaf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eb204aaf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aeb204aaf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eb204aaf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aeb204aaf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aeb204aaf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aeb204aaf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9bebbd873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9bebbd873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bebbd873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9bebbd873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9bebbd873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9bebbd873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9bebbd873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9bebbd873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A6BD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GraphQL vs REST - Um Experimento Controlado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</a:t>
            </a:r>
            <a:endParaRPr/>
          </a:p>
        </p:txBody>
      </p:sp>
      <p:sp>
        <p:nvSpPr>
          <p:cNvPr id="283" name="Google Shape;283;p14"/>
          <p:cNvSpPr txBox="1"/>
          <p:nvPr>
            <p:ph idx="1" type="body"/>
          </p:nvPr>
        </p:nvSpPr>
        <p:spPr>
          <a:xfrm>
            <a:off x="1303800" y="12022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A linguagem de consulta GraphQL representa uma alternativa às populares APIs REST. Baseada em grafos, a linguagem permite que usuários consultem banco de dados na forma de schemas, de modo que se possa exportar a base e realizar consultas num formato definido pelo fornecedor da API. </a:t>
            </a:r>
            <a:endParaRPr sz="1800"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Por outro lado, APIs criados com base em abordagens REST baseiam-se em endpoints: operações pré-definidas que podem ser chamadas por clientes que desejam consultar, deletar, atualizar ou escrever um dado na base.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>
            <p:ph type="title"/>
          </p:nvPr>
        </p:nvSpPr>
        <p:spPr>
          <a:xfrm>
            <a:off x="1303800" y="5509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</a:t>
            </a:r>
            <a:endParaRPr/>
          </a:p>
        </p:txBody>
      </p:sp>
      <p:sp>
        <p:nvSpPr>
          <p:cNvPr id="289" name="Google Shape;289;p15"/>
          <p:cNvSpPr txBox="1"/>
          <p:nvPr>
            <p:ph idx="1" type="body"/>
          </p:nvPr>
        </p:nvSpPr>
        <p:spPr>
          <a:xfrm>
            <a:off x="860250" y="1550250"/>
            <a:ext cx="7423500" cy="31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pt-BR" sz="1900">
                <a:solidFill>
                  <a:srgbClr val="000000"/>
                </a:solidFill>
              </a:rPr>
              <a:t>O objetivo deste laboratório é realizar um experimento controlado para avaliar quantitativamente os benefícios da adoção de uma API GraphQL. </a:t>
            </a:r>
            <a:endParaRPr sz="19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pt-BR" sz="1900">
                <a:solidFill>
                  <a:srgbClr val="000000"/>
                </a:solidFill>
              </a:rPr>
              <a:t>Foram analisados 3599 medições em 20 repositórios do GitHub, comparando as APIs GraphQL e REST em termos de tempo de resposta e tamanho das respostas.</a:t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 txBox="1"/>
          <p:nvPr>
            <p:ph type="title"/>
          </p:nvPr>
        </p:nvSpPr>
        <p:spPr>
          <a:xfrm>
            <a:off x="1303800" y="5509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Quest</a:t>
            </a:r>
            <a:r>
              <a:rPr lang="pt-BR"/>
              <a:t>ões</a:t>
            </a:r>
            <a:endParaRPr/>
          </a:p>
        </p:txBody>
      </p:sp>
      <p:sp>
        <p:nvSpPr>
          <p:cNvPr id="295" name="Google Shape;295;p16"/>
          <p:cNvSpPr txBox="1"/>
          <p:nvPr>
            <p:ph idx="1" type="body"/>
          </p:nvPr>
        </p:nvSpPr>
        <p:spPr>
          <a:xfrm>
            <a:off x="860250" y="1550250"/>
            <a:ext cx="7423500" cy="31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pt-BR" sz="1900">
                <a:solidFill>
                  <a:srgbClr val="000000"/>
                </a:solidFill>
              </a:rPr>
              <a:t> Este experimento busca responder as seguintes perguntas:  </a:t>
            </a:r>
            <a:endParaRPr sz="19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pt-BR" sz="1900">
                <a:solidFill>
                  <a:srgbClr val="000000"/>
                </a:solidFill>
              </a:rPr>
              <a:t>RQ1. Respostas às consultas GraphQL são mais rápidas que respostas às consultas REST?  </a:t>
            </a:r>
            <a:endParaRPr sz="19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pt-BR" sz="1900">
                <a:solidFill>
                  <a:srgbClr val="000000"/>
                </a:solidFill>
              </a:rPr>
              <a:t>RQ2. Respostas às consultas GraphQL têm tamanho menor que respostas às consultas REST?</a:t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 txBox="1"/>
          <p:nvPr>
            <p:ph type="title"/>
          </p:nvPr>
        </p:nvSpPr>
        <p:spPr>
          <a:xfrm>
            <a:off x="1303800" y="5509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Hip</a:t>
            </a:r>
            <a:r>
              <a:rPr lang="pt-BR"/>
              <a:t>óteses</a:t>
            </a:r>
            <a:endParaRPr/>
          </a:p>
        </p:txBody>
      </p:sp>
      <p:sp>
        <p:nvSpPr>
          <p:cNvPr id="301" name="Google Shape;301;p17"/>
          <p:cNvSpPr txBox="1"/>
          <p:nvPr>
            <p:ph idx="1" type="body"/>
          </p:nvPr>
        </p:nvSpPr>
        <p:spPr>
          <a:xfrm>
            <a:off x="860250" y="1550250"/>
            <a:ext cx="7423500" cy="31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b="1" lang="pt-BR" sz="1900">
                <a:solidFill>
                  <a:srgbClr val="000000"/>
                </a:solidFill>
              </a:rPr>
              <a:t>RQ03: </a:t>
            </a:r>
            <a:r>
              <a:rPr lang="pt-BR" sz="1900">
                <a:solidFill>
                  <a:srgbClr val="000000"/>
                </a:solidFill>
              </a:rPr>
              <a:t>Qual a relação entre a descrição dos PRs e o feedback final das revisões?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pt-BR" sz="1900">
                <a:solidFill>
                  <a:srgbClr val="000000"/>
                </a:solidFill>
              </a:rPr>
              <a:t>Hipótese: Espera-se que PRs com descrições mais detalhadas tenham maior chance de serem merged.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b="1" lang="pt-BR" sz="1900">
                <a:solidFill>
                  <a:srgbClr val="000000"/>
                </a:solidFill>
              </a:rPr>
              <a:t>RQ04: </a:t>
            </a:r>
            <a:r>
              <a:rPr lang="pt-BR" sz="1900">
                <a:solidFill>
                  <a:srgbClr val="000000"/>
                </a:solidFill>
              </a:rPr>
              <a:t>Qual a relação entre as interações nos PRs e o feedback final das revisões?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pt-BR" sz="1900">
                <a:solidFill>
                  <a:srgbClr val="000000"/>
                </a:solidFill>
              </a:rPr>
              <a:t>Hipótese: Espera-se que PRs com mais interações tenham maior chance de serem merged.</a:t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"/>
          <p:cNvSpPr txBox="1"/>
          <p:nvPr>
            <p:ph type="title"/>
          </p:nvPr>
        </p:nvSpPr>
        <p:spPr>
          <a:xfrm>
            <a:off x="1303800" y="5509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sp>
        <p:nvSpPr>
          <p:cNvPr id="307" name="Google Shape;307;p18"/>
          <p:cNvSpPr txBox="1"/>
          <p:nvPr>
            <p:ph idx="1" type="body"/>
          </p:nvPr>
        </p:nvSpPr>
        <p:spPr>
          <a:xfrm>
            <a:off x="860250" y="1550250"/>
            <a:ext cx="7423500" cy="31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pt-BR" sz="1900">
                <a:solidFill>
                  <a:srgbClr val="000000"/>
                </a:solidFill>
              </a:rPr>
              <a:t>Tempo de Resposta 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b="1" lang="pt-BR" sz="1900">
                <a:solidFill>
                  <a:srgbClr val="000000"/>
                </a:solidFill>
              </a:rPr>
              <a:t>GraphQL:</a:t>
            </a:r>
            <a:r>
              <a:rPr lang="pt-BR" sz="1900">
                <a:solidFill>
                  <a:srgbClr val="000000"/>
                </a:solidFill>
              </a:rPr>
              <a:t> - Média: 880.35 ms - Mediana: 793.61 ms - Desvio Padrão: 458.62 ms - Mínimo: 533.88 ms - Máximo: 8164.08 ms - N = 1799 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b="1" lang="pt-BR" sz="1900">
                <a:solidFill>
                  <a:srgbClr val="000000"/>
                </a:solidFill>
              </a:rPr>
              <a:t>REST:</a:t>
            </a:r>
            <a:r>
              <a:rPr lang="pt-BR" sz="1900">
                <a:solidFill>
                  <a:srgbClr val="000000"/>
                </a:solidFill>
              </a:rPr>
              <a:t> - Média: 1352.92 ms - Mediana: 858.33 ms - Desvio Padrão: 922.40 ms - Mínimo: 543.73 ms - Máximo: 7295.42 ms - N = 1800</a:t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"/>
          <p:cNvSpPr txBox="1"/>
          <p:nvPr>
            <p:ph type="title"/>
          </p:nvPr>
        </p:nvSpPr>
        <p:spPr>
          <a:xfrm>
            <a:off x="1303800" y="5509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sp>
        <p:nvSpPr>
          <p:cNvPr id="313" name="Google Shape;313;p19"/>
          <p:cNvSpPr txBox="1"/>
          <p:nvPr>
            <p:ph idx="1" type="body"/>
          </p:nvPr>
        </p:nvSpPr>
        <p:spPr>
          <a:xfrm>
            <a:off x="860250" y="1550250"/>
            <a:ext cx="7423500" cy="31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pt-BR" sz="1900">
                <a:solidFill>
                  <a:srgbClr val="000000"/>
                </a:solidFill>
              </a:rPr>
              <a:t>Tamanho da Resposta 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b="1" lang="pt-BR" sz="1900">
                <a:solidFill>
                  <a:srgbClr val="000000"/>
                </a:solidFill>
              </a:rPr>
              <a:t>GraphQL</a:t>
            </a:r>
            <a:r>
              <a:rPr lang="pt-BR" sz="1900">
                <a:solidFill>
                  <a:srgbClr val="000000"/>
                </a:solidFill>
              </a:rPr>
              <a:t>: - Média: 2218 bytes (2.17 KB) - Mediana: 1796 bytes (1.75 KB) - Desvio Padrão: 698 bytes - Mínimo: 1616 bytes - Máximo: 3382 bytes - N = 1799 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b="1" lang="pt-BR" sz="1900">
                <a:solidFill>
                  <a:srgbClr val="000000"/>
                </a:solidFill>
              </a:rPr>
              <a:t>REST</a:t>
            </a:r>
            <a:r>
              <a:rPr lang="pt-BR" sz="1900">
                <a:solidFill>
                  <a:srgbClr val="000000"/>
                </a:solidFill>
              </a:rPr>
              <a:t>: - Média: 29328 bytes (28.64 KB) - Mediana: 24001 bytes (23.44 KB) - Desvio Padrão: 21329 bytes - Mínimo: 7454 bytes - Máximo: 86338 bytes - N = 1800</a:t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"/>
          <p:cNvSpPr txBox="1"/>
          <p:nvPr>
            <p:ph type="title"/>
          </p:nvPr>
        </p:nvSpPr>
        <p:spPr>
          <a:xfrm>
            <a:off x="1303800" y="5509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sp>
        <p:nvSpPr>
          <p:cNvPr id="319" name="Google Shape;319;p20"/>
          <p:cNvSpPr txBox="1"/>
          <p:nvPr>
            <p:ph idx="1" type="body"/>
          </p:nvPr>
        </p:nvSpPr>
        <p:spPr>
          <a:xfrm>
            <a:off x="860250" y="1550250"/>
            <a:ext cx="7423500" cy="31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pt-BR" sz="1900">
                <a:solidFill>
                  <a:srgbClr val="000000"/>
                </a:solidFill>
              </a:rPr>
              <a:t>Teste Estatístico 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pt-BR" sz="1900">
                <a:solidFill>
                  <a:srgbClr val="000000"/>
                </a:solidFill>
              </a:rPr>
              <a:t>Teste utilizado:Teste de Wilcoxon 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pt-BR" sz="1900">
                <a:solidFill>
                  <a:srgbClr val="000000"/>
                </a:solidFill>
              </a:rPr>
              <a:t>p-value: 0.0605 - Cohen's d: -0.5707 -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b="1" lang="pt-BR" sz="1900">
                <a:solidFill>
                  <a:srgbClr val="000000"/>
                </a:solidFill>
              </a:rPr>
              <a:t>Conclusão:</a:t>
            </a:r>
            <a:r>
              <a:rPr lang="pt-BR" sz="1900">
                <a:solidFill>
                  <a:srgbClr val="000000"/>
                </a:solidFill>
              </a:rPr>
              <a:t> Não há diferença significativa entre GraphQL e REST</a:t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"/>
          <p:cNvSpPr txBox="1"/>
          <p:nvPr>
            <p:ph type="title"/>
          </p:nvPr>
        </p:nvSpPr>
        <p:spPr>
          <a:xfrm>
            <a:off x="1303800" y="5509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Interpretaç</a:t>
            </a:r>
            <a:r>
              <a:rPr lang="pt-BR"/>
              <a:t>ão</a:t>
            </a:r>
            <a:endParaRPr/>
          </a:p>
        </p:txBody>
      </p:sp>
      <p:sp>
        <p:nvSpPr>
          <p:cNvPr id="325" name="Google Shape;325;p21"/>
          <p:cNvSpPr txBox="1"/>
          <p:nvPr>
            <p:ph idx="1" type="body"/>
          </p:nvPr>
        </p:nvSpPr>
        <p:spPr>
          <a:xfrm>
            <a:off x="860250" y="1550250"/>
            <a:ext cx="7423500" cy="31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pt-BR" sz="1900">
                <a:solidFill>
                  <a:srgbClr val="000000"/>
                </a:solidFill>
              </a:rPr>
              <a:t>Com base no teste estatístico (Teste de Wilcoxon), não rejeitamos a hipótese nula (p ≥ 0.05). O tamanho do efeito (Cohen's d = -0.5707) indica um efeito médio.</a:t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5663" y="152400"/>
            <a:ext cx="6472673" cy="4838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00763"/>
            <a:ext cx="8839204" cy="3741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00763"/>
            <a:ext cx="8839204" cy="3741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33825"/>
            <a:ext cx="8839204" cy="3275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6"/>
          <p:cNvSpPr txBox="1"/>
          <p:nvPr>
            <p:ph type="title"/>
          </p:nvPr>
        </p:nvSpPr>
        <p:spPr>
          <a:xfrm>
            <a:off x="1303800" y="5509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</a:t>
            </a:r>
            <a:r>
              <a:rPr lang="pt-BR"/>
              <a:t>ão</a:t>
            </a:r>
            <a:endParaRPr/>
          </a:p>
        </p:txBody>
      </p:sp>
      <p:sp>
        <p:nvSpPr>
          <p:cNvPr id="351" name="Google Shape;351;p26"/>
          <p:cNvSpPr txBox="1"/>
          <p:nvPr>
            <p:ph idx="1" type="body"/>
          </p:nvPr>
        </p:nvSpPr>
        <p:spPr>
          <a:xfrm>
            <a:off x="860250" y="1550250"/>
            <a:ext cx="7423500" cy="31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900"/>
              <a:buChar char="●"/>
            </a:pPr>
            <a:r>
              <a:rPr lang="pt-BR" sz="1900">
                <a:solidFill>
                  <a:srgbClr val="000000"/>
                </a:solidFill>
              </a:rPr>
              <a:t>A escolha entre GraphQL e REST não é simples e depende de múltiplos fatores incluindo: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900"/>
              <a:buChar char="●"/>
            </a:pPr>
            <a:r>
              <a:rPr lang="pt-BR" sz="1900">
                <a:solidFill>
                  <a:srgbClr val="000000"/>
                </a:solidFill>
              </a:rPr>
              <a:t>Requisitos específicos da aplicação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900"/>
              <a:buChar char="●"/>
            </a:pPr>
            <a:r>
              <a:rPr lang="pt-BR" sz="1900">
                <a:solidFill>
                  <a:srgbClr val="000000"/>
                </a:solidFill>
              </a:rPr>
              <a:t>Perfil de dados e consultas necessárias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900"/>
              <a:buChar char="●"/>
            </a:pPr>
            <a:r>
              <a:rPr lang="pt-BR" sz="1900">
                <a:solidFill>
                  <a:srgbClr val="000000"/>
                </a:solidFill>
              </a:rPr>
              <a:t>Expertise da equipe de desenvolvimento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900"/>
              <a:buChar char="●"/>
            </a:pPr>
            <a:r>
              <a:rPr lang="pt-BR" sz="1900">
                <a:solidFill>
                  <a:srgbClr val="000000"/>
                </a:solidFill>
              </a:rPr>
              <a:t>Infraestrutura e ferramentas disponíveis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900"/>
              <a:buChar char="●"/>
            </a:pPr>
            <a:r>
              <a:rPr lang="pt-BR" sz="1900">
                <a:solidFill>
                  <a:srgbClr val="000000"/>
                </a:solidFill>
              </a:rPr>
              <a:t>Trade-offs entre flexibilidade e simplicidade 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900"/>
              <a:buChar char="●"/>
            </a:pPr>
            <a:r>
              <a:rPr lang="pt-BR" sz="1900">
                <a:solidFill>
                  <a:srgbClr val="000000"/>
                </a:solidFill>
              </a:rPr>
              <a:t>Este experimento fornece dados quantitativos que podem informar essa decisão, mas deve ser considerado junto com outros fatores qualitativos e contextuais.</a:t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7"/>
          <p:cNvSpPr txBox="1"/>
          <p:nvPr>
            <p:ph type="title"/>
          </p:nvPr>
        </p:nvSpPr>
        <p:spPr>
          <a:xfrm>
            <a:off x="1303800" y="5509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Conclusão das Hipóteses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7"/>
          <p:cNvSpPr txBox="1"/>
          <p:nvPr>
            <p:ph idx="1" type="body"/>
          </p:nvPr>
        </p:nvSpPr>
        <p:spPr>
          <a:xfrm>
            <a:off x="860250" y="1550250"/>
            <a:ext cx="7423500" cy="31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900"/>
              <a:buChar char="●"/>
            </a:pPr>
            <a:r>
              <a:rPr lang="pt-BR" sz="1900">
                <a:solidFill>
                  <a:srgbClr val="38761D"/>
                </a:solidFill>
              </a:rPr>
              <a:t>Hipótese: Espera-se que PRs com descrições mais detalhadas tenham maior chance de serem merged.</a:t>
            </a:r>
            <a:endParaRPr sz="1900">
              <a:solidFill>
                <a:srgbClr val="38761D"/>
              </a:solidFill>
            </a:endParaRPr>
          </a:p>
          <a:p>
            <a:pPr indent="-349250" lvl="1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pt-BR" sz="1900">
                <a:solidFill>
                  <a:srgbClr val="000000"/>
                </a:solidFill>
              </a:rPr>
              <a:t>Quanto maior a descriç</a:t>
            </a:r>
            <a:r>
              <a:rPr lang="pt-BR" sz="1900">
                <a:solidFill>
                  <a:srgbClr val="000000"/>
                </a:solidFill>
              </a:rPr>
              <a:t>ão, maior a chance de merge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900"/>
              <a:buChar char="●"/>
            </a:pPr>
            <a:r>
              <a:rPr lang="pt-BR" sz="1900">
                <a:solidFill>
                  <a:srgbClr val="990000"/>
                </a:solidFill>
              </a:rPr>
              <a:t>Hipótese: Espera-se que PRs com mais interações tenham maior chance de serem merged.</a:t>
            </a:r>
            <a:endParaRPr sz="1900">
              <a:solidFill>
                <a:srgbClr val="990000"/>
              </a:solidFill>
            </a:endParaRPr>
          </a:p>
          <a:p>
            <a:pPr indent="-349250" lvl="1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pt-BR" sz="1900">
                <a:solidFill>
                  <a:srgbClr val="000000"/>
                </a:solidFill>
              </a:rPr>
              <a:t>N</a:t>
            </a:r>
            <a:r>
              <a:rPr lang="pt-BR" sz="1900">
                <a:solidFill>
                  <a:srgbClr val="000000"/>
                </a:solidFill>
              </a:rPr>
              <a:t>ão houve grande correlação entre interações e chance de merge</a:t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8"/>
          <p:cNvSpPr txBox="1"/>
          <p:nvPr>
            <p:ph type="title"/>
          </p:nvPr>
        </p:nvSpPr>
        <p:spPr>
          <a:xfrm>
            <a:off x="1303800" y="5509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Conclusão das Hipóteses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8"/>
          <p:cNvSpPr txBox="1"/>
          <p:nvPr>
            <p:ph idx="1" type="body"/>
          </p:nvPr>
        </p:nvSpPr>
        <p:spPr>
          <a:xfrm>
            <a:off x="860250" y="1550250"/>
            <a:ext cx="7423500" cy="31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900"/>
              <a:buChar char="●"/>
            </a:pPr>
            <a:r>
              <a:rPr lang="pt-BR" sz="1900">
                <a:solidFill>
                  <a:srgbClr val="38761D"/>
                </a:solidFill>
              </a:rPr>
              <a:t>Hipótese: Espera-se que PRs maiores requerem mais revisões.</a:t>
            </a:r>
            <a:endParaRPr sz="1900">
              <a:solidFill>
                <a:srgbClr val="38761D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pt-BR" sz="1900">
                <a:solidFill>
                  <a:srgbClr val="000000"/>
                </a:solidFill>
              </a:rPr>
              <a:t>Não houve grande correlação entre tamanho e chance de revisão</a:t>
            </a:r>
            <a:endParaRPr sz="19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900"/>
              <a:buChar char="●"/>
            </a:pPr>
            <a:r>
              <a:rPr lang="pt-BR" sz="1900">
                <a:solidFill>
                  <a:srgbClr val="990000"/>
                </a:solidFill>
              </a:rPr>
              <a:t>Hipótese: Espera-se que PRs com mais tempo de análise tenham mais revisões.</a:t>
            </a:r>
            <a:endParaRPr sz="1900">
              <a:solidFill>
                <a:srgbClr val="990000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pt-BR" sz="1900">
                <a:solidFill>
                  <a:srgbClr val="000000"/>
                </a:solidFill>
              </a:rPr>
              <a:t>Não houve grande correlação entre tempo de análise e chance de revisão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9"/>
          <p:cNvSpPr txBox="1"/>
          <p:nvPr>
            <p:ph type="title"/>
          </p:nvPr>
        </p:nvSpPr>
        <p:spPr>
          <a:xfrm>
            <a:off x="1303800" y="5509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Conclusão das Hipóteses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9"/>
          <p:cNvSpPr txBox="1"/>
          <p:nvPr>
            <p:ph idx="1" type="body"/>
          </p:nvPr>
        </p:nvSpPr>
        <p:spPr>
          <a:xfrm>
            <a:off x="860250" y="1550250"/>
            <a:ext cx="7423500" cy="31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900"/>
              <a:buChar char="●"/>
            </a:pPr>
            <a:r>
              <a:rPr lang="pt-BR" sz="1900">
                <a:solidFill>
                  <a:srgbClr val="38761D"/>
                </a:solidFill>
              </a:rPr>
              <a:t>Hipótese: Espera-se que PRs com descrições mais detalhadas tenham menos revisões.</a:t>
            </a:r>
            <a:endParaRPr sz="1900">
              <a:solidFill>
                <a:srgbClr val="38761D"/>
              </a:solidFill>
            </a:endParaRPr>
          </a:p>
          <a:p>
            <a:pPr indent="-349250" lvl="1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pt-BR" sz="1900">
                <a:solidFill>
                  <a:srgbClr val="000000"/>
                </a:solidFill>
              </a:rPr>
              <a:t>Quanto maior o tamanho, maior o </a:t>
            </a:r>
            <a:r>
              <a:rPr lang="pt-BR" sz="1900">
                <a:solidFill>
                  <a:srgbClr val="000000"/>
                </a:solidFill>
              </a:rPr>
              <a:t>número</a:t>
            </a:r>
            <a:r>
              <a:rPr lang="pt-BR" sz="1900">
                <a:solidFill>
                  <a:srgbClr val="000000"/>
                </a:solidFill>
              </a:rPr>
              <a:t> de revis</a:t>
            </a:r>
            <a:r>
              <a:rPr lang="pt-BR" sz="1900">
                <a:solidFill>
                  <a:srgbClr val="000000"/>
                </a:solidFill>
              </a:rPr>
              <a:t>ões</a:t>
            </a:r>
            <a:endParaRPr sz="1900">
              <a:solidFill>
                <a:srgbClr val="000000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900"/>
              <a:buChar char="●"/>
            </a:pPr>
            <a:r>
              <a:rPr lang="pt-BR" sz="1900">
                <a:solidFill>
                  <a:srgbClr val="38761D"/>
                </a:solidFill>
              </a:rPr>
              <a:t>Hipótese: Espera-se que PRs com mais interações tenham mais revisões.</a:t>
            </a:r>
            <a:endParaRPr sz="1900">
              <a:solidFill>
                <a:srgbClr val="38761D"/>
              </a:solidFill>
            </a:endParaRPr>
          </a:p>
          <a:p>
            <a:pPr indent="-349250" lvl="1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pt-BR" sz="1900">
                <a:solidFill>
                  <a:srgbClr val="000000"/>
                </a:solidFill>
              </a:rPr>
              <a:t>PRS com mais interaç</a:t>
            </a:r>
            <a:r>
              <a:rPr lang="pt-BR" sz="1900">
                <a:solidFill>
                  <a:srgbClr val="000000"/>
                </a:solidFill>
              </a:rPr>
              <a:t>ões tendem a ter mais revisões. </a:t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